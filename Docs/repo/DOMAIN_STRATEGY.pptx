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5400" b="1">
                <a:solidFill>
                  <a:srgbClr val="00D4AA"/>
                </a:solidFill>
                <a:latin typeface="Georgia"/>
              </a:defRPr>
            </a:pPr>
            <a:r>
              <a:t>Three Domains.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5400" b="1">
                <a:solidFill>
                  <a:srgbClr val="F5A623"/>
                </a:solidFill>
                <a:latin typeface="Georgia"/>
              </a:defRPr>
            </a:pPr>
            <a:r>
              <a:t>One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Every Problem Answered.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ADCFC"/>
                </a:solidFill>
                <a:latin typeface="Calibri"/>
              </a:defRPr>
            </a:pPr>
            <a:r>
              <a:t>FrankMax Digital Domain Publishing Strategy</a:t>
            </a:r>
          </a:p>
          <a:p>
            <a:pPr>
              <a:defRPr sz="1600">
                <a:solidFill>
                  <a:srgbClr val="CADCFC"/>
                </a:solidFill>
                <a:latin typeface="Calibri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The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Calibri"/>
              </a:defRPr>
            </a:pPr>
            <a:r>
              <a:t>People don't search for your brand. They search for their pain.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How to stop billing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→ frankmax.digital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AI governance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→ andrewfranklinleo.com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393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AI operator certification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→ levelup-max.com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Each domain captures a different search intent and converts it differently.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The Three-Domain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64592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ADCFC"/>
                </a:solidFill>
                <a:latin typeface="Calibri"/>
              </a:defRPr>
            </a:pPr>
            <a: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andrewfranklinleo.com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1645920" cy="1645920"/>
          </a:xfrm>
          <a:prstGeom prst="rect">
            <a:avLst/>
          </a:prstGeom>
          <a:solidFill>
            <a:srgbClr val="F5A623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A623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317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frankmax.digital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1645920" cy="1645920"/>
          </a:xfrm>
          <a:prstGeom prst="rect">
            <a:avLst/>
          </a:prstGeom>
          <a:solidFill>
            <a:srgbClr val="00D4A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TALENT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levelup-max.com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Trust feeds Revenue. Revenue creates Talent demand. Talent scales Revenue. The flywheel.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1: The Trust Anchor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ADCFC"/>
                </a:solidFill>
                <a:latin typeface="Calibri"/>
              </a:defRPr>
            </a:pPr>
            <a:r>
              <a:t>andrewfranklinleo.com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Personal authority. The founder people trust before they trust the company.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C-suite executives, investors, regulators, media, AI thinkers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0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Long-form essays, video commentary, frameworks, speaking engagements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Inbound trust signals (speaking invitations, media mentions, followers)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1: Publishing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ORF Protocol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15-Layer Reality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Atomic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5 First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Centi-Trillion Architecture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Pre-Incident Governance philosophy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08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 Fragility Codex insights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CF0F1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Format: Blog posts, LinkedIn articles, downloadable PDFs, video explainers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SEO targets: AI governance • AI accountability • Responsible AI framework • AI decision 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1: Publishing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88720" cy="457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ORF thesis + Atomic Constraint (2 foundational essays)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15-Layer Reality Stack + Pre-Incident essay (2 framework pieces)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Centi-Trillion thesis + industry fragility essays (2 vision pieces)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Ongoing: Weekly LinkedIn posts excerpting essays, linking back to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KPI: 10,000 unique visitors/month by Month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2: The Revenue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8872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frankmax.digital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Enterprise product showcase. Interactive demos. Conversion.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CFOs, COOs, compliance officers, CISOs, operations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0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Product pages, interactive demos, ROI calculators, case studies,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Demo requests, email captures, sales conversations booked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2: Product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91440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Billing Leakage Scanner (interactive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904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Chokepoint Intelligence (visual bottleneck mapping)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922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9222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Governance Gap Analyzer (interactive quiz + score)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9397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9397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Frankmax PIAR — Pre-Incident Accountability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957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DocuFlow AI — document processing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Governance-as-a-Service — compliance monitoring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99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992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ROI Calculator — universal cost recovery calculator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0098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30098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Operator Intelligence — AI copilot for enterprise teams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Each product: Landing page + Interactive demo + Email capture +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2: Publishing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8872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441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Billing Leakage Scanner demo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Chokepoint Intelligence demo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Governance Gap Analyzer + ROI Calculator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75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1363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PIAR product page + DocuFlow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531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90872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Full product suite + case studies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Calibri"/>
              </a:defRPr>
            </a:pPr>
            <a:r>
              <a:t>KPI: 50 demo requests/month by Month 2, 5 sales conversations/month by Month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3: The Talent Factory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00584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levelup-max.com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Operator training, certification, community. The distribution moat.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AI practitioners, operations analysts, governance professionals, career changers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80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Courses, certification tracks, assessments, community forum, success 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Enrolled operators, certification completions, operator-sourced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3: Training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914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Free AI Governance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1790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Operator Track Level 1: Foundations (free)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47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Operator Track Level 2: Specialist (paid $199-$499)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762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762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AI Copilot Skills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54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054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Venture Cell Bootcamp ($999-$2,999)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3463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39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Enterprise Operator Deployment ($5K-$25K)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63823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Community Forum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ECF0F1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Revenue model: Freemium → Certification fees → Enterprise training → Operator placement fees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Domain 3: Publishing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8872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1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Free assessment + Level 1 foundations 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39"/>
            <a:ext cx="8229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7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59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Level 2 specialist track (first paid tier)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ADCFC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7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Venture Cell Bootcamp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761"/>
                </a:solidFill>
                <a:latin typeface="Calibri"/>
              </a:defRPr>
            </a:pPr>
            <a:r>
              <a:t>Month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Enterprise packages + community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Calibri"/>
              </a:defRPr>
            </a:pPr>
            <a:r>
              <a:t>KPI: 500 free enrollments Month 1, 50 paid certifications Month 2, 10 enterprise deals by Month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The Cross-Domain Flywheel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91440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andrewfranklinleo.com publishes thought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143000"/>
            <a:ext cx="39319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Drives organic traffic to all three domains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39319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Traffic discovers frankmax.digital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920240"/>
            <a:ext cx="393192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Clients need trained operators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393192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Discover and enroll in levelup-max.com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697480"/>
            <a:ext cx="3931920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2834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Trained operators deploy Frankmax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3931920" cy="6400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Generate case studies &amp; success stories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474720"/>
            <a:ext cx="39319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611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Case studies become thought 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Each loop increases: Revenue • Credibility • Talent Pool • Data • Market Position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SEO &amp; Discovery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73152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andrewfranklinleo.com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AI governance framework • Responsible AI • AI accountability • AI decision liability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frankmax.digital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Billing leakage detection • Governance compliance software • Bottleneck analysis • AI governance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levelup-max.com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02152"/>
            <a:ext cx="7863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AI operator certification • AI governance training • Learn AI operations • AI copilot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High-value search terms by domain (capture different intents, lower competition)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00D4AA"/>
                </a:solidFill>
                <a:latin typeface="Georgia"/>
              </a:defRPr>
            </a:pPr>
            <a:r>
              <a:t>AI Chatbot Discoverability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When someone asks ChatGPT, Claude, or Gemini about AI governance — YOUR frameworks should be the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822960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148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Well-structured, publicly accessible, unique frameworks with clear terminology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743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Your 38-document corpus contains concepts that DON'T EXIST anywhere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Calibri"/>
              </a:defRPr>
            </a:pPr>
            <a: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337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ADCFC"/>
                </a:solidFill>
                <a:latin typeface="Calibri"/>
              </a:defRPr>
            </a:pPr>
            <a:r>
              <a:t>First to publish = First to be cited by AI systems globally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ORF Protocol • 15-Layer Reality Stack • Atomic Constraint — Novel concepts ready for global citation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Publishing Priority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0" y="822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Calibri"/>
              </a:defRPr>
            </a:pPr>
            <a:r>
              <a:t>Speed to Publish (Fast)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280160"/>
            <a:ext cx="3931920" cy="1645920"/>
          </a:xfrm>
          <a:prstGeom prst="rect">
            <a:avLst/>
          </a:prstGeom>
          <a:solidFill>
            <a:srgbClr val="00D4AA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DO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Billing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ROI calc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Governance quiz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DO CONTINUOUSLY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Blog posts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LinkedIn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Free courses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926080"/>
            <a:ext cx="3931920" cy="1645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DO SECOND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PIAR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Enterprise 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26080"/>
            <a:ext cx="3931920" cy="1645920"/>
          </a:xfrm>
          <a:prstGeom prst="rect">
            <a:avLst/>
          </a:prstGeom>
          <a:solidFill>
            <a:srgbClr val="ECF0F1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Calibri"/>
              </a:defRPr>
            </a:pPr>
            <a:r>
              <a:t>DO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Full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Calibri"/>
              </a:defRPr>
            </a:pPr>
            <a:r>
              <a:t>Community forum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90-Day Domain Launch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005840" cy="45720"/>
          </a:xfrm>
          <a:prstGeom prst="rect">
            <a:avLst/>
          </a:prstGeom>
          <a:solidFill>
            <a:srgbClr val="00D4AA"/>
          </a:solidFill>
          <a:ln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DCFC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andrewfranklinleo.com live with ORF thesis + Atomic Constraint essay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frankmax.digital live with Billing Leakage demo + ROI Calculator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levelup-max.com live with Free Governance Assessment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761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Expand all three (add products, courses, essays)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Cross-link, optimize, start conversion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00D4AA"/>
                </a:solidFill>
                <a:latin typeface="Georgia"/>
              </a:defRPr>
            </a:pPr>
            <a:r>
              <a:t>The Compounding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91440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1,000 visitors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0 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10,000 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057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50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57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$5K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50,000 visitors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500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$25K/month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200,000 visitors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5,000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$100K/month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39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1M+ visitors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ADCFC"/>
                </a:solidFill>
                <a:latin typeface="Calibri"/>
              </a:defRPr>
            </a:pPr>
            <a:r>
              <a:t>50,000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$500K/month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Each piece of content compounds. Each demo captured email compounds. Each operator trained compounds. Nothing decays.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Georgia"/>
              </a:defRPr>
            </a:pPr>
            <a:r>
              <a:t>What NOT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Don't launch all systems at once (overwhelm kills execution)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Don't build before publishing (static demos first, real systems later)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880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Don't ignore SEO (organic traffic is the cheapest, most compounding channel)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Don't separate the domains mentally (they're one ecosystem, three entry points)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ECF0F1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Don't wait for perfection (publish, measure, improve)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bIns="0" tIns="0">
            <a:spAutoFit/>
          </a:bodyPr>
          <a:lstStyle/>
          <a:p>
            <a:pPr>
              <a:defRPr sz="4400" b="1">
                <a:solidFill>
                  <a:srgbClr val="00D4AA"/>
                </a:solidFill>
                <a:latin typeface="Georgia"/>
              </a:defRPr>
            </a:pPr>
            <a:r>
              <a:t>Next Single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 andrewfranklinleo.com with the ORF Protocol essay this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 frankmax.digital with the Billing Leakage demo next week.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C3E50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718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 levelup-max.com with the Free Assessment the week after.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8229600" cy="457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A623"/>
                </a:solidFill>
                <a:latin typeface="Calibri"/>
              </a:defRPr>
            </a:pPr>
            <a:r>
              <a:t>By March 15, 2026: All three domains live, discoverable, and capturing leads.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ADCFC"/>
                </a:solidFill>
                <a:latin typeface="Calibri"/>
              </a:defRPr>
            </a:pPr>
            <a:r>
              <a:t>FrankMax Digital  |  andrew.palupillai@frankmax.digital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