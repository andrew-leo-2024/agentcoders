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M1-3</c:v>
                </c:pt>
                <c:pt idx="1">
                  <c:v>M4-6</c:v>
                </c:pt>
                <c:pt idx="2">
                  <c:v>M7-9</c:v>
                </c:pt>
                <c:pt idx="3">
                  <c:v>M10-12</c:v>
                </c:pt>
                <c:pt idx="4">
                  <c:v>Year 2</c:v>
                </c:pt>
                <c:pt idx="5">
                  <c:v>Year 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85</c:v>
                </c:pt>
                <c:pt idx="2">
                  <c:v>120</c:v>
                </c:pt>
                <c:pt idx="3">
                  <c:v>190</c:v>
                </c:pt>
                <c:pt idx="4">
                  <c:v>909</c:v>
                </c:pt>
                <c:pt idx="5">
                  <c:v>3400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/>
            </a:pP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228</c:v>
                </c:pt>
                <c:pt idx="1">
                  <c:v>909</c:v>
                </c:pt>
                <c:pt idx="2">
                  <c:v>3400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From Architecture to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 i="0">
                <a:solidFill>
                  <a:srgbClr val="CADCFC"/>
                </a:solidFill>
                <a:latin typeface="Georgia"/>
              </a:defRPr>
            </a:pPr>
            <a:r>
              <a:t>The Execution Blueprint — Slow is Smooth, Smooth is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FrankMax Digital | Andrew Palupillai | February 27,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Where We Are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914400"/>
            <a:ext cx="1737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$0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82880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CADCFC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914400"/>
            <a:ext cx="1737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82880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CADCFC"/>
                </a:solidFill>
                <a:latin typeface="Calibri"/>
              </a:defRPr>
            </a:pPr>
            <a:r>
              <a:t>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914400"/>
            <a:ext cx="1737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82880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CADCFC"/>
                </a:solidFill>
                <a:latin typeface="Calibri"/>
              </a:defRPr>
            </a:pPr>
            <a:r>
              <a:t>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914400"/>
            <a:ext cx="1737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535K+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2880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CADCFC"/>
                </a:solidFill>
                <a:latin typeface="Calibri"/>
              </a:defRPr>
            </a:pPr>
            <a:r>
              <a:t>Strategy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1">
                <a:solidFill>
                  <a:srgbClr val="F9E795"/>
                </a:solidFill>
                <a:latin typeface="Georgia"/>
              </a:defRPr>
            </a:pPr>
            <a:r>
              <a:t>The architecture is complete. The revenue doesn't exist.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Where We're Going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1E2761"/>
                </a:solidFill>
                <a:latin typeface="Georgia"/>
              </a:defRPr>
            </a:pPr>
            <a:r>
              <a:t>Year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 i="0">
                <a:solidFill>
                  <a:srgbClr val="F9E795"/>
                </a:solidFill>
                <a:latin typeface="Georgia"/>
              </a:defRPr>
            </a:pPr>
            <a:r>
              <a:t>$228K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 i="0">
                <a:solidFill>
                  <a:srgbClr val="1E2761"/>
                </a:solidFill>
                <a:latin typeface="Georgia"/>
              </a:defRPr>
            </a:pPr>
            <a:r>
              <a:t>6+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 i="0">
                <a:solidFill>
                  <a:srgbClr val="1E2761"/>
                </a:solidFill>
                <a:latin typeface="Georgia"/>
              </a:defRPr>
            </a:pPr>
            <a:r>
              <a:t>50+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operators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09728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28016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1E2761"/>
                </a:solidFill>
                <a:latin typeface="Georgia"/>
              </a:defRPr>
            </a:pPr>
            <a:r>
              <a:t>Year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82880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 i="0">
                <a:solidFill>
                  <a:srgbClr val="F9E795"/>
                </a:solidFill>
                <a:latin typeface="Georgia"/>
              </a:defRPr>
            </a:pPr>
            <a:r>
              <a:t>$909K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51460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803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 i="0">
                <a:solidFill>
                  <a:srgbClr val="1E2761"/>
                </a:solidFill>
                <a:latin typeface="Georgia"/>
              </a:defRPr>
            </a:pPr>
            <a:r>
              <a:t>20+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33756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65760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 i="0">
                <a:solidFill>
                  <a:srgbClr val="1E2761"/>
                </a:solidFill>
                <a:latin typeface="Georgia"/>
              </a:defRPr>
            </a:pPr>
            <a:r>
              <a:t>100+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11480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operators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9728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1280160"/>
            <a:ext cx="2560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1E2761"/>
                </a:solidFill>
                <a:latin typeface="Georgia"/>
              </a:defRPr>
            </a:pPr>
            <a:r>
              <a:t>Year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828800"/>
            <a:ext cx="25603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 i="0">
                <a:solidFill>
                  <a:srgbClr val="F9E795"/>
                </a:solidFill>
                <a:latin typeface="Georgia"/>
              </a:defRPr>
            </a:pPr>
            <a:r>
              <a:t>$3.4M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251460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28803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 i="0">
                <a:solidFill>
                  <a:srgbClr val="1E2761"/>
                </a:solidFill>
                <a:latin typeface="Georgia"/>
              </a:defRPr>
            </a:pPr>
            <a:r>
              <a:t>50+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33756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65760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 i="0">
                <a:solidFill>
                  <a:srgbClr val="1E2761"/>
                </a:solidFill>
                <a:latin typeface="Georgia"/>
              </a:defRPr>
            </a:pPr>
            <a:r>
              <a:t>200+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114800"/>
            <a:ext cx="2560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operators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Conservative projections. Kill anything that doesn't prove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Top 10 Critical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Revenue ($0→$100K/mo)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3840480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Customers (0→50+)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3840480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Products (0→5+)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54680"/>
            <a:ext cx="3840480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5468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Market Validation (0 conversations)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40480"/>
            <a:ext cx="3840480" cy="5486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Team (1 person)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1097280"/>
            <a:ext cx="3840480" cy="548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09728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Case Studies (0→10+)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783080"/>
            <a:ext cx="3840480" cy="548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178308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Website (not launched)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468880"/>
            <a:ext cx="3840480" cy="548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246888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Tech Stack (not deployed)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3154680"/>
            <a:ext cx="3840480" cy="548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83480" y="315468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Operator Pipeline (0→100+)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3840480" cy="548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3840480"/>
            <a:ext cx="3566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Cloud Infra (none)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680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0" i="1">
                <a:solidFill>
                  <a:srgbClr val="F9E795"/>
                </a:solidFill>
                <a:latin typeface="Georgia"/>
              </a:defRPr>
            </a:pPr>
            <a:r>
              <a:t>No system may execute an irreversible action unless a single, identifiable human liability bearer is bound to that action at execution time.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This is the ORF kernel — the smallest enforceable unit from which all else derives.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Three Paths. Only One Produces Power.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651760" cy="3566160"/>
          </a:xfrm>
          <a:prstGeom prst="rect">
            <a:avLst/>
          </a:prstGeom>
          <a:solidFill>
            <a:srgbClr val="FFFFFF"/>
          </a:solidFill>
          <a:ln w="381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2C5F2D"/>
                </a:solidFill>
                <a:latin typeface="Georgia"/>
              </a:defRPr>
            </a:pPr>
            <a:r>
              <a:t>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Pick one wedge. Accept boredom.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Build 10-20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8036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Only path producing non-permissioned power.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97280"/>
            <a:ext cx="2651760" cy="3566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28016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9A825"/>
                </a:solidFill>
                <a:latin typeface="Georgia"/>
              </a:defRPr>
            </a:pPr>
            <a:r>
              <a:t>INTELLECTUAL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92024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Refine theory. Teach others.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33172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Never ship.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88036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Respected. Never powerful.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97280"/>
            <a:ext cx="2651760" cy="3566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28016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6B6B"/>
                </a:solidFill>
                <a:latin typeface="Georgia"/>
              </a:defRPr>
            </a:pPr>
            <a:r>
              <a:t>EGO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92024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Search for one more missing thing.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331720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Confuse insight with motion.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880360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Never ship. Never matter.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Phase 1: First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Months 1-3 | Target: $5-15K/month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1E2761"/>
                </a:solidFill>
                <a:latin typeface="Georgia"/>
              </a:defRPr>
            </a:pPr>
            <a:r>
              <a:t>DocuFlow Agent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$19-49/mo micro-SaaS for compliance docs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1E2761"/>
                </a:solidFill>
                <a:latin typeface="Georgia"/>
              </a:defRPr>
            </a:pPr>
            <a:r>
              <a:t>Chokepoint Intelligence Sprint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$15-30K diagnostic for mid-market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3657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1E2761"/>
                </a:solidFill>
                <a:latin typeface="Georgia"/>
              </a:defRPr>
            </a:pPr>
            <a:r>
              <a:t>Billing Leakage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$20-40K + $5K/mo for CFOs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 i="0">
                <a:solidFill>
                  <a:srgbClr val="FF6B6B"/>
                </a:solidFill>
                <a:latin typeface="Georgia"/>
              </a:defRPr>
            </a:pPr>
            <a:r>
              <a:t>Kill criteria: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FF6B6B"/>
                </a:solidFill>
                <a:latin typeface="Calibri"/>
              </a:defRPr>
            </a:pPr>
            <a:r>
              <a:t>No revenue by Day 90 = kill everything and reassess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Phase 2: Scale &amp; Systemize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Months 4-6 | Target: $15-30K/month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363636"/>
                </a:solidFill>
                <a:latin typeface="Calibri"/>
              </a:defRPr>
            </a:pPr>
            <a:r>
              <a:t>Scale DocuFlow 100+ users</a:t>
            </a:r>
          </a:p>
          <a:p>
            <a:pPr>
              <a:defRPr sz="1300">
                <a:solidFill>
                  <a:srgbClr val="363636"/>
                </a:solidFill>
                <a:latin typeface="Calibri"/>
              </a:defRPr>
            </a:pPr>
            <a:r>
              <a:t>Launch Operator Track (30 participants)</a:t>
            </a:r>
          </a:p>
          <a:p>
            <a:pPr>
              <a:defRPr sz="1300">
                <a:solidFill>
                  <a:srgbClr val="363636"/>
                </a:solidFill>
                <a:latin typeface="Calibri"/>
              </a:defRPr>
            </a:pPr>
            <a:r>
              <a:t>First enterprise client</a:t>
            </a:r>
          </a:p>
          <a:p>
            <a:pPr>
              <a:defRPr sz="1300">
                <a:solidFill>
                  <a:srgbClr val="363636"/>
                </a:solidFill>
                <a:latin typeface="Calibri"/>
              </a:defRPr>
            </a:pPr>
            <a:r>
              <a:t>Build agent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Entry: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52628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$10K/mo proven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52628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FF6B6B"/>
                </a:solidFill>
                <a:latin typeface="Georgia"/>
              </a:defRPr>
            </a:pPr>
            <a:r>
              <a:t>Kill: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526280"/>
            <a:ext cx="2468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FF6B6B"/>
                </a:solidFill>
                <a:latin typeface="Calibri"/>
              </a:defRPr>
            </a:pPr>
            <a:r>
              <a:t>Margin &lt;35% by Month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Phase 3: Verticalize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Months 7-9 | Target: $30-50K/month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363636"/>
                </a:solidFill>
                <a:latin typeface="Calibri"/>
              </a:defRPr>
            </a:pPr>
            <a:r>
              <a:t>Insurance claims vertical ($3-7/claim)</a:t>
            </a:r>
          </a:p>
          <a:p>
            <a:pPr>
              <a:defRPr sz="1300">
                <a:solidFill>
                  <a:srgbClr val="363636"/>
                </a:solidFill>
                <a:latin typeface="Calibri"/>
              </a:defRPr>
            </a:pPr>
            <a:r>
              <a:t>Knowledge-Worker Copilot pilot</a:t>
            </a:r>
          </a:p>
          <a:p>
            <a:pPr>
              <a:defRPr sz="1300">
                <a:solidFill>
                  <a:srgbClr val="363636"/>
                </a:solidFill>
                <a:latin typeface="Calibri"/>
              </a:defRPr>
            </a:pPr>
            <a:r>
              <a:t>Governance &amp; traceability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Entry: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5262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$30K/mo, 3+ 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52628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FF6B6B"/>
                </a:solidFill>
                <a:latin typeface="Georgia"/>
              </a:defRPr>
            </a:pPr>
            <a:r>
              <a:t>Kill: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52628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FF6B6B"/>
                </a:solidFill>
                <a:latin typeface="Calibri"/>
              </a:defRPr>
            </a:pPr>
            <a:r>
              <a:t>Vertical underperforms horizontal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Phase 4: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Months 10-12 | Target: $50-100K/month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>
                <a:solidFill>
                  <a:srgbClr val="363636"/>
                </a:solidFill>
                <a:latin typeface="Calibri"/>
              </a:defRPr>
            </a:pPr>
            <a:r>
              <a:t>Agent marketplace beta</a:t>
            </a:r>
          </a:p>
          <a:p>
            <a:pPr>
              <a:defRPr sz="1300">
                <a:solidFill>
                  <a:srgbClr val="363636"/>
                </a:solidFill>
                <a:latin typeface="Calibri"/>
              </a:defRPr>
            </a:pPr>
            <a:r>
              <a:t>Digital identity infrastructure</a:t>
            </a:r>
          </a:p>
          <a:p>
            <a:pPr>
              <a:defRPr sz="1300">
                <a:solidFill>
                  <a:srgbClr val="363636"/>
                </a:solidFill>
                <a:latin typeface="Calibri"/>
              </a:defRPr>
            </a:pPr>
            <a:r>
              <a:t>Frankmax PIAR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Entry: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52628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$50K/mo, vertical proven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52628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FF6B6B"/>
                </a:solidFill>
                <a:latin typeface="Georgia"/>
              </a:defRPr>
            </a:pPr>
            <a:r>
              <a:t>Kill: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4526280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FF6B6B"/>
                </a:solidFill>
                <a:latin typeface="Calibri"/>
              </a:defRPr>
            </a:pPr>
            <a:r>
              <a:t>No network effects by Month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The Institutional Horizon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2697480" cy="3566160"/>
          </a:xfrm>
          <a:prstGeom prst="rect">
            <a:avLst/>
          </a:prstGeom>
          <a:solidFill>
            <a:srgbClr val="CADCFC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E2761"/>
                </a:solidFill>
                <a:latin typeface="Georgia"/>
              </a:defRPr>
            </a:pPr>
            <a:r>
              <a:t>Phase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E2761"/>
                </a:solidFill>
                <a:latin typeface="Georgia"/>
              </a:defRPr>
            </a:pPr>
            <a:r>
              <a:t>Cross-Industry Coordination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363636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9E795"/>
                </a:solidFill>
                <a:latin typeface="Georgia"/>
              </a:defRPr>
            </a:pPr>
            <a:r>
              <a:t>$200K/mo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1E2761"/>
                </a:solidFill>
                <a:latin typeface="Calibri"/>
              </a:defRPr>
            </a:pPr>
            <a:r>
              <a:t>Network effects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097280"/>
            <a:ext cx="2697480" cy="3566160"/>
          </a:xfrm>
          <a:prstGeom prst="rect">
            <a:avLst/>
          </a:prstGeom>
          <a:solidFill>
            <a:srgbClr val="CADCFC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280160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E2761"/>
                </a:solidFill>
                <a:latin typeface="Georgia"/>
              </a:defRPr>
            </a:pPr>
            <a:r>
              <a:t>Phase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6916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E2761"/>
                </a:solidFill>
                <a:latin typeface="Georgia"/>
              </a:defRPr>
            </a:pPr>
            <a:r>
              <a:t>Government &amp; Institutional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31720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363636"/>
                </a:solidFill>
                <a:latin typeface="Calibri"/>
              </a:defRPr>
            </a:pPr>
            <a:r>
              <a:t>Year 2-3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69748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9E795"/>
                </a:solidFill>
                <a:latin typeface="Georgia"/>
              </a:defRPr>
            </a:pPr>
            <a:r>
              <a:t>$400K/mo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20040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1E2761"/>
                </a:solidFill>
                <a:latin typeface="Calibri"/>
              </a:defRPr>
            </a:pPr>
            <a:r>
              <a:t>Regulatory endorsement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97280"/>
            <a:ext cx="2697480" cy="3566160"/>
          </a:xfrm>
          <a:prstGeom prst="rect">
            <a:avLst/>
          </a:prstGeom>
          <a:solidFill>
            <a:srgbClr val="CADCFC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280160"/>
            <a:ext cx="2514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E2761"/>
                </a:solidFill>
                <a:latin typeface="Georgia"/>
              </a:defRPr>
            </a:pPr>
            <a:r>
              <a:t>Phase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691640"/>
            <a:ext cx="2514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 i="0">
                <a:solidFill>
                  <a:srgbClr val="1E2761"/>
                </a:solidFill>
                <a:latin typeface="Georgia"/>
              </a:defRPr>
            </a:pPr>
            <a:r>
              <a:t>Invisible Infrastructure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31720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363636"/>
                </a:solidFill>
                <a:latin typeface="Calibri"/>
              </a:defRPr>
            </a:pPr>
            <a:r>
              <a:t>Year 3+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97480"/>
            <a:ext cx="2514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9E795"/>
                </a:solidFill>
                <a:latin typeface="Georgia"/>
              </a:defRPr>
            </a:pPr>
            <a:r>
              <a:t>Platform &gt;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20040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1E2761"/>
                </a:solidFill>
                <a:latin typeface="Calibri"/>
              </a:defRPr>
            </a:pPr>
            <a:r>
              <a:t>Civilization-scale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 i="0">
                <a:solidFill>
                  <a:srgbClr val="CADCFC"/>
                </a:solidFill>
                <a:latin typeface="Calibri"/>
              </a:defRPr>
            </a:pPr>
            <a:r>
              <a:t>5yr = credibility. 10yr = dependence. 20yr = structural authority.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Revenue Build: 36-Month Projection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Six Validated Market Wedges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Manufacturing OTIF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1">
                <a:solidFill>
                  <a:srgbClr val="F9E795"/>
                </a:solidFill>
                <a:latin typeface="Calibri"/>
              </a:defRPr>
            </a:pPr>
            <a:r>
              <a:t>$95K pilot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09728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32588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Logistics Fleet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96596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1">
                <a:solidFill>
                  <a:srgbClr val="F9E795"/>
                </a:solidFill>
                <a:latin typeface="Calibri"/>
              </a:defRPr>
            </a:pPr>
            <a:r>
              <a:t>$80K pilot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097280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325880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Professional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965960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1">
                <a:solidFill>
                  <a:srgbClr val="F9E795"/>
                </a:solidFill>
                <a:latin typeface="Calibri"/>
              </a:defRPr>
            </a:pPr>
            <a:r>
              <a:t>$110K pilot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34639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63239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Banking Receivables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03319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1">
                <a:solidFill>
                  <a:srgbClr val="F9E795"/>
                </a:solidFill>
                <a:latin typeface="Calibri"/>
              </a:defRPr>
            </a:pPr>
            <a:r>
              <a:t>$85K 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834639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3063239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Construction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703319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1">
                <a:solidFill>
                  <a:srgbClr val="F9E795"/>
                </a:solidFill>
                <a:latin typeface="Calibri"/>
              </a:defRPr>
            </a:pPr>
            <a:r>
              <a:t>$90K pilot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834639"/>
            <a:ext cx="2651760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063239"/>
            <a:ext cx="2377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Healthcare/Retail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03319"/>
            <a:ext cx="2377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1">
                <a:solidFill>
                  <a:srgbClr val="F9E795"/>
                </a:solidFill>
                <a:latin typeface="Calibri"/>
              </a:defRPr>
            </a:pPr>
            <a:r>
              <a:t>$70-90K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 i="1">
                <a:solidFill>
                  <a:srgbClr val="666666"/>
                </a:solidFill>
                <a:latin typeface="Calibri"/>
              </a:defRPr>
            </a:pPr>
            <a:r>
              <a:t>Each wedge: 60-90 day proof cycle with defined kill criteria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Unit Economics: Single Venture Cell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1E2761"/>
                </a:solidFill>
                <a:latin typeface="Georgia"/>
              </a:defRPr>
            </a:pPr>
            <a:r>
              <a:t>P&amp;L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363636"/>
                </a:solidFill>
                <a:latin typeface="Calibri"/>
              </a:defRPr>
            </a:pPr>
            <a:r>
              <a:t>Revenue: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8308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 i="0">
                <a:solidFill>
                  <a:srgbClr val="F9E795"/>
                </a:solidFill>
                <a:latin typeface="Calibri"/>
              </a:defRPr>
            </a:pPr>
            <a:r>
              <a:t>$100K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363636"/>
                </a:solidFill>
                <a:latin typeface="Calibri"/>
              </a:defRPr>
            </a:pPr>
            <a:r>
              <a:t>Costs: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0312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 i="0">
                <a:solidFill>
                  <a:srgbClr val="F9E795"/>
                </a:solidFill>
                <a:latin typeface="Calibri"/>
              </a:defRPr>
            </a:pPr>
            <a:r>
              <a:t>$48K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  Commercial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231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$12K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 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432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$12K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6324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  Lead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06324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$18K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8328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  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38328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0" i="0">
                <a:solidFill>
                  <a:srgbClr val="363636"/>
                </a:solidFill>
                <a:latin typeface="Calibri"/>
              </a:defRPr>
            </a:pPr>
            <a:r>
              <a:t>$6K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0332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 i="0">
                <a:solidFill>
                  <a:srgbClr val="363636"/>
                </a:solidFill>
                <a:latin typeface="Calibri"/>
              </a:defRPr>
            </a:pPr>
            <a:r>
              <a:t>Margin: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70332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200" b="1" i="0">
                <a:solidFill>
                  <a:srgbClr val="F9E795"/>
                </a:solidFill>
                <a:latin typeface="Calibri"/>
              </a:defRPr>
            </a:pPr>
            <a:r>
              <a:t>$52K (52%)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CADCFC"/>
          </a:solidFill>
          <a:ln w="25400"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1280160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 i="0">
                <a:solidFill>
                  <a:srgbClr val="1E2761"/>
                </a:solidFill>
                <a:latin typeface="Georgia"/>
              </a:defRPr>
            </a:pPr>
            <a:r>
              <a:t>Portfolio 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192024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E2761"/>
                </a:solidFill>
                <a:latin typeface="Calibri"/>
              </a:defRPr>
            </a:pPr>
            <a:r>
              <a:t>10 cells x 5 people = $2M annualized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2743200"/>
            <a:ext cx="3383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E2761"/>
                </a:solidFill>
                <a:latin typeface="Calibri"/>
              </a:defRPr>
            </a:pPr>
            <a:r>
              <a:t>Break-even: 3-4 deals by Month 3-4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90-Day Sprint: Week by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920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Weeks 1-3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9E795"/>
                </a:solidFill>
                <a:latin typeface="Georgia"/>
              </a:defRPr>
            </a:pPr>
            <a:r>
              <a:t>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16459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63636"/>
                </a:solidFill>
                <a:latin typeface="Calibri"/>
              </a:defRPr>
            </a:pPr>
            <a:r>
              <a:t>Legal entity, website, 20 conversations, pain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097280"/>
            <a:ext cx="1920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23444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Weeks 4-6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60020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9E795"/>
                </a:solidFill>
                <a:latin typeface="Georgia"/>
              </a:defRPr>
            </a:pPr>
            <a:r>
              <a:t>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194560"/>
            <a:ext cx="16459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63636"/>
                </a:solidFill>
                <a:latin typeface="Calibri"/>
              </a:defRPr>
            </a:pPr>
            <a:r>
              <a:t>3 proposals, first deal, first delivery, $15K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097280"/>
            <a:ext cx="1920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23444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Weeks 7-9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0020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9E795"/>
                </a:solidFill>
                <a:latin typeface="Georgia"/>
              </a:defRPr>
            </a:pPr>
            <a:r>
              <a:t>REPEAT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94560"/>
            <a:ext cx="16459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63636"/>
                </a:solidFill>
                <a:latin typeface="Calibri"/>
              </a:defRPr>
            </a:pPr>
            <a:r>
              <a:t>3 deals, DocuFlow 10 users, second delivery, $40K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1097280"/>
            <a:ext cx="1920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23444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666666"/>
                </a:solidFill>
                <a:latin typeface="Calibri"/>
              </a:defRPr>
            </a:pPr>
            <a:r>
              <a:t>Weeks 10-13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600200"/>
            <a:ext cx="1737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9E795"/>
                </a:solidFill>
                <a:latin typeface="Georgia"/>
              </a:defRPr>
            </a:pPr>
            <a:r>
              <a:t>SYSTEMATIZE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2194560"/>
            <a:ext cx="16459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63636"/>
                </a:solidFill>
                <a:latin typeface="Calibri"/>
              </a:defRPr>
            </a:pPr>
            <a:r>
              <a:t>6 deals, operators recruited, process playbook, $85K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System Build Priority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874519" cy="3566160"/>
          </a:xfrm>
          <a:prstGeom prst="rect">
            <a:avLst/>
          </a:prstGeom>
          <a:solidFill>
            <a:srgbClr val="FFFFFF"/>
          </a:solidFill>
          <a:ln w="381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6916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2C5F2D"/>
                </a:solidFill>
                <a:latin typeface="Georgia"/>
              </a:defRPr>
            </a:pPr>
            <a:r>
              <a:t>Build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28800"/>
            <a:ext cx="160019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63636"/>
                </a:solidFill>
                <a:latin typeface="Calibri"/>
              </a:defRPr>
            </a:pPr>
            <a:r>
              <a:t>DocuFlow, Chokepoint Engine, Website, Billing Leakage, Agent Orchestration, Telemetry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097280"/>
            <a:ext cx="1874519" cy="3566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234440"/>
            <a:ext cx="16916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9A825"/>
                </a:solidFill>
                <a:latin typeface="Georgia"/>
              </a:defRPr>
            </a:pPr>
            <a:r>
              <a:t>Build When Proven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828800"/>
            <a:ext cx="160019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63636"/>
                </a:solidFill>
                <a:latin typeface="Calibri"/>
              </a:defRPr>
            </a:pPr>
            <a:r>
              <a:t>Insurance Agent, Copilot, Governance, PEP, Marketplace, PIAR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97280"/>
            <a:ext cx="1874519" cy="3566160"/>
          </a:xfrm>
          <a:prstGeom prst="rect">
            <a:avLst/>
          </a:prstGeom>
          <a:solidFill>
            <a:srgbClr val="FFFFFF"/>
          </a:solidFill>
          <a:ln w="3810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34440"/>
            <a:ext cx="16916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4444"/>
                </a:solidFill>
                <a:latin typeface="Georgia"/>
              </a:defRPr>
            </a:pPr>
            <a:r>
              <a:t>Defer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828800"/>
            <a:ext cx="160019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63636"/>
                </a:solidFill>
                <a:latin typeface="Calibri"/>
              </a:defRPr>
            </a:pPr>
            <a:r>
              <a:t>AINE Registry, Cross-AINE Risk, Insurance Pool, ORF Kernel, Jurisdiction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097280"/>
            <a:ext cx="1874519" cy="3566160"/>
          </a:xfrm>
          <a:prstGeom prst="rect">
            <a:avLst/>
          </a:prstGeom>
          <a:solidFill>
            <a:srgbClr val="FFFFFF"/>
          </a:solidFill>
          <a:ln w="381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34440"/>
            <a:ext cx="169163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999999"/>
                </a:solidFill>
                <a:latin typeface="Georgia"/>
              </a:defRPr>
            </a:pPr>
            <a:r>
              <a:t>May Never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28800"/>
            <a:ext cx="1600199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63636"/>
                </a:solidFill>
                <a:latin typeface="Calibri"/>
              </a:defRPr>
            </a:pPr>
            <a:r>
              <a:t>Planetary Sim, Imperial Intelligence, Machine Creativity, Private Military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Top 10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363636"/>
                </a:solidFill>
                <a:latin typeface="Calibri"/>
              </a:defRPr>
            </a:pPr>
            <a:r>
              <a:t>1. Founder burnout (20) RED</a:t>
            </a:r>
          </a:p>
          <a:p>
            <a:pPr>
              <a:defRPr sz="1100">
                <a:solidFill>
                  <a:srgbClr val="363636"/>
                </a:solidFill>
                <a:latin typeface="Calibri"/>
              </a:defRPr>
            </a:pPr>
            <a:r>
              <a:t>2. Architecture seduction (16) RED</a:t>
            </a:r>
          </a:p>
          <a:p>
            <a:pPr>
              <a:defRPr sz="1100">
                <a:solidFill>
                  <a:srgbClr val="363636"/>
                </a:solidFill>
                <a:latin typeface="Calibri"/>
              </a:defRPr>
            </a:pPr>
            <a:r>
              <a:t>3. Over-engineering before PMF (16) RED</a:t>
            </a:r>
          </a:p>
          <a:p>
            <a:pPr>
              <a:defRPr sz="1100">
                <a:solidFill>
                  <a:srgbClr val="363636"/>
                </a:solidFill>
                <a:latin typeface="Calibri"/>
              </a:defRPr>
            </a:pPr>
            <a:r>
              <a:t>4. Zero revenue Day 90 (15) RED</a:t>
            </a:r>
          </a:p>
          <a:p>
            <a:pPr>
              <a:defRPr sz="1100">
                <a:solidFill>
                  <a:srgbClr val="363636"/>
                </a:solidFill>
                <a:latin typeface="Calibri"/>
              </a:defRPr>
            </a:pPr>
            <a:r>
              <a:t>5. No product-market fit (15) RED</a:t>
            </a:r>
          </a:p>
          <a:p>
            <a:pPr>
              <a:defRPr sz="1100">
                <a:solidFill>
                  <a:srgbClr val="363636"/>
                </a:solidFill>
                <a:latin typeface="Calibri"/>
              </a:defRPr>
            </a:pPr>
            <a:r>
              <a:t>6. Capital exhaustion (15) RED</a:t>
            </a:r>
          </a:p>
          <a:p>
            <a:pPr>
              <a:defRPr sz="1100">
                <a:solidFill>
                  <a:srgbClr val="363636"/>
                </a:solidFill>
                <a:latin typeface="Calibri"/>
              </a:defRPr>
            </a:pPr>
            <a:r>
              <a:t>7. Kill discipline failure (15) RED</a:t>
            </a:r>
          </a:p>
          <a:p>
            <a:pPr>
              <a:defRPr sz="1100">
                <a:solidFill>
                  <a:srgbClr val="363636"/>
                </a:solidFill>
                <a:latin typeface="Calibri"/>
              </a:defRPr>
            </a:pPr>
            <a:r>
              <a:t>8. Founder ego vs PCI (15) ORANGE</a:t>
            </a:r>
          </a:p>
          <a:p>
            <a:pPr>
              <a:defRPr sz="1100">
                <a:solidFill>
                  <a:srgbClr val="363636"/>
                </a:solidFill>
                <a:latin typeface="Calibri"/>
              </a:defRPr>
            </a:pPr>
            <a:r>
              <a:t>9. Wrong vertical (12) ORANGE</a:t>
            </a:r>
          </a:p>
          <a:p>
            <a:pPr>
              <a:defRPr sz="1100">
                <a:solidFill>
                  <a:srgbClr val="363636"/>
                </a:solidFill>
                <a:latin typeface="Calibri"/>
              </a:defRPr>
            </a:pPr>
            <a:r>
              <a:t>10. Enterprise sales cycle (12) ORANGE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Year 1 Irreversibility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 i="0">
                <a:solidFill>
                  <a:srgbClr val="F9E795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325880"/>
            <a:ext cx="7132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Kill a politically inconvenient venture (backed by a powerful partner)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 i="0">
                <a:solidFill>
                  <a:srgbClr val="F9E795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240280"/>
            <a:ext cx="7132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PCI-triggered spin-off of your most successful 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 i="0">
                <a:solidFill>
                  <a:srgbClr val="F9E795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54680"/>
            <a:ext cx="7132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Reject capital that demands protocol exceptions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7955279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 i="1">
                <a:solidFill>
                  <a:srgbClr val="CADCFC"/>
                </a:solidFill>
                <a:latin typeface="Calibri"/>
              </a:defRPr>
            </a:pPr>
            <a:r>
              <a:t>If you can't do all three, the system is decorative.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The Founder's Week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645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9E795"/>
                </a:solidFill>
                <a:latin typeface="Georgia"/>
              </a:defRPr>
            </a:pPr>
            <a:r>
              <a:t>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1E2761"/>
                </a:solidFill>
                <a:latin typeface="Georgia"/>
              </a:defRPr>
            </a:pPr>
            <a: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60320"/>
            <a:ext cx="1371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What generated cash?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188720"/>
            <a:ext cx="1645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13716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9E795"/>
                </a:solidFill>
                <a:latin typeface="Georgia"/>
              </a:defRPr>
            </a:pPr>
            <a:r>
              <a:t>TUE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182880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1E2761"/>
                </a:solidFill>
                <a:latin typeface="Georgia"/>
              </a:defRPr>
            </a:pPr>
            <a: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560320"/>
            <a:ext cx="1371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#1 quality improvement?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188720"/>
            <a:ext cx="1645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13716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9E795"/>
                </a:solidFill>
                <a:latin typeface="Georgia"/>
              </a:defRPr>
            </a:pPr>
            <a:r>
              <a:t>WED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82880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1E2761"/>
                </a:solidFill>
                <a:latin typeface="Georgia"/>
              </a:defRPr>
            </a:pPr>
            <a: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40" y="2560320"/>
            <a:ext cx="1371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What are they saying?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1188720"/>
            <a:ext cx="1645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13716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9E795"/>
                </a:solidFill>
                <a:latin typeface="Georgia"/>
              </a:defRPr>
            </a:pPr>
            <a:r>
              <a:t>THU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182880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1E2761"/>
                </a:solidFill>
                <a:latin typeface="Georgia"/>
              </a:defRPr>
            </a:pPr>
            <a:r>
              <a:t>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560320"/>
            <a:ext cx="1371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Is build sequence correct?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1188720"/>
            <a:ext cx="1645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3716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9E795"/>
                </a:solidFill>
                <a:latin typeface="Georgia"/>
              </a:defRPr>
            </a:pPr>
            <a:r>
              <a:t>FRI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82880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1E2761"/>
                </a:solidFill>
                <a:latin typeface="Georgia"/>
              </a:defRPr>
            </a:pPr>
            <a:r>
              <a:t>Operators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560320"/>
            <a:ext cx="1371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 i="1">
                <a:solidFill>
                  <a:srgbClr val="666666"/>
                </a:solidFill>
                <a:latin typeface="Calibri"/>
              </a:defRPr>
            </a:pPr>
            <a:r>
              <a:t>Who's training? Who's delivering?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Seven Rules of Discipline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051560"/>
            <a:ext cx="320040" cy="320040"/>
          </a:xfrm>
          <a:prstGeom prst="ellipse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E2761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78992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363636"/>
                </a:solidFill>
                <a:latin typeface="Calibri"/>
              </a:defRPr>
            </a:pPr>
            <a:r>
              <a:t>No feature without 90-day revenue connection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490472"/>
            <a:ext cx="320040" cy="320040"/>
          </a:xfrm>
          <a:prstGeom prst="ellipse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9047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E2761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17904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363636"/>
                </a:solidFill>
                <a:latin typeface="Calibri"/>
              </a:defRPr>
            </a:pPr>
            <a:r>
              <a:t>No platform before product-market fit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29384"/>
            <a:ext cx="320040" cy="320040"/>
          </a:xfrm>
          <a:prstGeom prst="ellipse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9384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E2761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56816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363636"/>
                </a:solidFill>
                <a:latin typeface="Calibri"/>
              </a:defRPr>
            </a:pPr>
            <a:r>
              <a:t>No hiring before agent automation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68296"/>
            <a:ext cx="320040" cy="320040"/>
          </a:xfrm>
          <a:prstGeom prst="ellipse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68296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E2761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395728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363636"/>
                </a:solidFill>
                <a:latin typeface="Calibri"/>
              </a:defRPr>
            </a:pPr>
            <a:r>
              <a:t>No fundraising before sustainable revenue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807208"/>
            <a:ext cx="320040" cy="320040"/>
          </a:xfrm>
          <a:prstGeom prst="ellipse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80720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E2761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34640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363636"/>
                </a:solidFill>
                <a:latin typeface="Calibri"/>
              </a:defRPr>
            </a:pPr>
            <a:r>
              <a:t>No horizontal before vertical dominance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246120"/>
            <a:ext cx="320040" cy="320040"/>
          </a:xfrm>
          <a:prstGeom prst="ellipse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461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E2761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273552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363636"/>
                </a:solidFill>
                <a:latin typeface="Calibri"/>
              </a:defRPr>
            </a:pPr>
            <a:r>
              <a:t>No infrastructure before customer demand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685032"/>
            <a:ext cx="320040" cy="320040"/>
          </a:xfrm>
          <a:prstGeom prst="ellipse">
            <a:avLst/>
          </a:prstGeom>
          <a:solidFill>
            <a:srgbClr val="F9E795"/>
          </a:solidFill>
          <a:ln>
            <a:solidFill>
              <a:srgbClr val="F9E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85032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1E2761"/>
                </a:solidFill>
                <a:latin typeface="Georgia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12464"/>
            <a:ext cx="7680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 i="0">
                <a:solidFill>
                  <a:srgbClr val="363636"/>
                </a:solidFill>
                <a:latin typeface="Calibri"/>
              </a:defRPr>
            </a:pPr>
            <a:r>
              <a:t>No theory without executable output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3-Year Financial Trajectory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05840"/>
          <a:ext cx="82296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1E2761"/>
                </a:solidFill>
                <a:latin typeface="Calibri"/>
              </a:defRPr>
            </a:pPr>
            <a:r>
              <a:t>Net Margin: 35-44% → 45-50% → 48-52%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1E2761"/>
                </a:solidFill>
                <a:latin typeface="Calibri"/>
              </a:defRPr>
            </a:pPr>
            <a:r>
              <a:t>Break-even: Month 4-5 | Sustainable: Month 8+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 i="0">
                <a:solidFill>
                  <a:srgbClr val="1E2761"/>
                </a:solidFill>
                <a:latin typeface="Georgia"/>
              </a:defRPr>
            </a:pPr>
            <a:r>
              <a:t>12 KPIs That Determine Success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7899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9E795"/>
                </a:solidFill>
                <a:latin typeface="Calibri"/>
              </a:defRPr>
            </a:pPr>
            <a:r>
              <a:t>$/mo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00584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07899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38988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9E795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00584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07899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Conversations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38988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9E795"/>
                </a:solidFill>
                <a:latin typeface="Calibri"/>
              </a:defRPr>
            </a:pPr>
            <a:r>
              <a:t>#/wk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7452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4767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Deals Closed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2585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9E795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87452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194767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DocuFlow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2585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9E795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187452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0760" y="194767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Operator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25856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9E795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74320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81635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Client 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12724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9E795"/>
                </a:solidFill>
                <a:latin typeface="Calibri"/>
              </a:defRPr>
            </a:pPr>
            <a:r>
              <a:t>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74320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281635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Gross Margin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312724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9E795"/>
                </a:solidFill>
                <a:latin typeface="Calibri"/>
              </a:defRPr>
            </a:pPr>
            <a:r>
              <a:t>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74320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281635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Cash 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12724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9E795"/>
                </a:solidFill>
                <a:latin typeface="Calibri"/>
              </a:defRPr>
            </a:pPr>
            <a:r>
              <a:t>$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1188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68503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Burn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99592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9E795"/>
                </a:solidFill>
                <a:latin typeface="Calibri"/>
              </a:defRPr>
            </a:pPr>
            <a:r>
              <a:t>$/mo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361188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37560" y="368503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Days to Break-even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399592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9E795"/>
                </a:solidFill>
                <a:latin typeface="Calibri"/>
              </a:defRPr>
            </a:pPr>
            <a:r>
              <a:t>days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61188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0760" y="3685032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1E2761"/>
                </a:solidFill>
                <a:latin typeface="Georgia"/>
              </a:defRPr>
            </a:pPr>
            <a:r>
              <a:t>Agent Tasks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399592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 i="0">
                <a:solidFill>
                  <a:srgbClr val="F9E795"/>
                </a:solidFill>
                <a:latin typeface="Calibri"/>
              </a:defRPr>
            </a:pPr>
            <a:r>
              <a:t>#/day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The Architecture Exists.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 i="0">
                <a:solidFill>
                  <a:srgbClr val="F9E795"/>
                </a:solidFill>
                <a:latin typeface="Georgia"/>
              </a:defRPr>
            </a:pPr>
            <a:r>
              <a:t>The Revenue Doesn't.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1. Choose ONE vertical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4436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2. Book 20 conversations in 14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28416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3. Close 3 deals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12464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4. Generate $50K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96512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5. Document actual vs. planned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1">
                <a:solidFill>
                  <a:srgbClr val="CADCFC"/>
                </a:solidFill>
                <a:latin typeface="Georgia"/>
              </a:defRPr>
            </a:pPr>
            <a:r>
              <a:t>Slow is smooth. Smooth is speed.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Andrew Palupillai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0" i="0">
                <a:solidFill>
                  <a:srgbClr val="CADCFC"/>
                </a:solidFill>
                <a:latin typeface="Georgia"/>
              </a:defRPr>
            </a:pPr>
            <a:r>
              <a:t>FrankMax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Calibri"/>
              </a:defRPr>
            </a:pPr>
            <a:r>
              <a:t>andrewfranklinleo.com | frankmax.com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CADCFC"/>
                </a:solidFill>
                <a:latin typeface="Calibri"/>
              </a:defRPr>
            </a:pPr>
            <a:r>
              <a:t>andrew.palupillai@frankmax.digital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