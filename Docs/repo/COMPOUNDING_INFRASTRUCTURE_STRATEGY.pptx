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of Compounding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Infrastructure Creates Non-Linear Wealth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FrankMax Digital | 2026-2035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businesses grow linearly: more effort = more revenue.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businesses grow exponentially: more users = more value per user.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architecture is designed for the second kind.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is: how do you ignite the compounding loop from zero?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Assets That Compound Simultaneously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solidFill>
            <a:srgbClr val="0D557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Execution Telemetry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15%/mo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097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= data for next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84048"/>
          </a:xfrm>
          <a:prstGeom prst="rect">
            <a:avLst/>
          </a:prstGeom>
          <a:solidFill>
            <a:srgbClr val="155B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Client Relationships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8%/mo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= reference + upsell + referral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Operator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12%/mo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trained = delivery capacity multiplied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solidFill>
            <a:srgbClr val="2589A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IP &amp; Frameworks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6%/mo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= methodology refined + licensable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solidFill>
            <a:srgbClr val="2E96B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26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Credibility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10%/mo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study = proof for 3 more buyers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solidFill>
            <a:srgbClr val="37A3D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Governance Authority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383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4%/mo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383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precedent = closer to regulatory standard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solidFill>
            <a:srgbClr val="40B0E7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Infrastructure Position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obligation processed = network effect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1-5: fast compound. Assets 6-7: slow compound, infinite leverage.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$1 Creates $1,000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Diagnostic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direct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536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operations map (data asset)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883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+ CFO relationships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2311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diagnostic framework iteration (IP)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578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case study (credibility)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 operator training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32735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failure pattern catalogued (infrastructure)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created: $10K cash + ~$50K in compounding assets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Infrastructure Businesses Win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(Linear)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Hours x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10-20% annually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1-3x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Founder's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55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Acqui-hire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(Exponential)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Users x Network Effect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50-200% annually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660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Valuation: 20-40x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008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GDP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Never (too embedded to remove)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as consulting. You BECOME infrastructure. The transition is everything.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Flywheel: Each Spin Faster Than the Last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566160" y="77724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777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80560" y="1097280"/>
            <a:ext cx="173736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150876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data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-731520" cy="1463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297180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attracts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3291840"/>
            <a:ext cx="-320040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370332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703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close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4023360"/>
            <a:ext cx="-3200400" cy="-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97180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71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funds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291840"/>
            <a:ext cx="-731520" cy="-1463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508760"/>
            <a:ext cx="10972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1508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deliver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diagnostics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revolution: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faster, 15% more valuable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Client, Seven Revenue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77724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8872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Sprint: $5-15K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5-10 days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1691640"/>
            <a:ext cx="6858000" cy="457200"/>
          </a:xfrm>
          <a:prstGeom prst="rect">
            <a:avLst/>
          </a:prstGeom>
          <a:solidFill>
            <a:srgbClr val="0D6B8F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69164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$15-30K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30-60 days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2194560"/>
            <a:ext cx="5943600" cy="457200"/>
          </a:xfrm>
          <a:prstGeom prst="rect">
            <a:avLst/>
          </a:prstGeom>
          <a:solidFill>
            <a:srgbClr val="157C9C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1945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Retainer: $2-5K/mo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42316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annual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2697480"/>
            <a:ext cx="5029200" cy="457200"/>
          </a:xfrm>
          <a:prstGeom prst="rect">
            <a:avLst/>
          </a:prstGeom>
          <a:solidFill>
            <a:srgbClr val="1C8DA9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2697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Assessment: $8-20K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9260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3200400"/>
            <a:ext cx="4114800" cy="457200"/>
          </a:xfrm>
          <a:prstGeom prst="rect">
            <a:avLst/>
          </a:prstGeom>
          <a:solidFill>
            <a:srgbClr val="239EB6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Certification: $5-10K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operator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3703320"/>
            <a:ext cx="3200400" cy="457200"/>
          </a:xfrm>
          <a:prstGeom prst="rect">
            <a:avLst/>
          </a:prstGeom>
          <a:solidFill>
            <a:srgbClr val="2AAFA3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37033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License: $50-200K/yr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31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multi-year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4206240"/>
            <a:ext cx="2286000" cy="457200"/>
          </a:xfrm>
          <a:prstGeom prst="rect">
            <a:avLst/>
          </a:prstGeom>
          <a:solidFill>
            <a:srgbClr val="31C0B0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Participation: 0.1-0.5% of flows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44348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GDP-scale, permanent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LTV: $5K → $500K+ over 3-5 years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Moat: Why Competitors Can't Catch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0D6B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(Month 1-6)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company diagnostics = 10 operational maps, 100+ failure patterns, pricing benchmarks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60120"/>
          </a:xfrm>
          <a:prstGeom prst="rect">
            <a:avLst/>
          </a:prstGeom>
          <a:solidFill>
            <a:srgbClr val="1C8DA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(Month 6-18)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Cross-company pattern recognition, industry benchmarks, predictive failure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960120"/>
          </a:xfrm>
          <a:prstGeom prst="rect">
            <a:avLst/>
          </a:prstGeom>
          <a:solidFill>
            <a:srgbClr val="2AAFA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(Month 18+)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3383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Monopolize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this dataset. Insurance pricing, underwriting intelligence, regulatory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diagnostic you run makes the next one more valuable. Competitors start at zero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Labor Multiplier: 10x Without Hiring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1-3: You deliver everything (1x capacity)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8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4-6: 3 operators at 60% your quality (3x capacity)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025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7-12: 10 operators, supervised by 2 seniors (8x capacity)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30 operators, self-organizing cells (20x capacity)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70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100 operators across 10 cells (50x capacity)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Revenue per founder-hour: $50/hr → $500/hr → $5,000/hr → $50,000/hr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trained on YOUR data, YOUR frameworks, YOUR governance. They can't take the moat with them.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Frameworks Become Fortresses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it to deliver. Worth: $0 standalone.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8288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can learn it. Worth: $5-10K per certification.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828800" cy="731520"/>
          </a:xfrm>
          <a:prstGeom prst="rect">
            <a:avLst/>
          </a:prstGeom>
          <a:solidFill>
            <a:srgbClr val="2AA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adopts it. Worth: $50-200K per enterprise license.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828800" cy="731520"/>
          </a:xfrm>
          <a:prstGeom prst="rect">
            <a:avLst/>
          </a:prstGeom>
          <a:solidFill>
            <a:srgbClr val="31C0B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9319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reference it. Worth: Infinite (functional monopoly).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diagnostic refines the framework. Every framework iteration moves you toward Stage 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Frankmax Endgame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Advisory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companies what could go wrong. They pay for insight. $5-25K.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Essential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require your assessment. D&amp;O policies reference your framework. $50-200K.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Infrastructure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mandate pre-incident accountability review. Frankmax IS the standard. Unlimited.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bypass creates evidence of recklessness, you don't need sales. You need capacity.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Network Effects, Activated Sequentially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2344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Network (Month 6+)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diagnostics = better benchmarks = more clients want your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B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38528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6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9842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Network (Month 9+)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258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operators = more delivery capacity = more clients = more operators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8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88336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D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7340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Network (Month 12+)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0083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case studies = higher conversion = more case studies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A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A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4838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Network (Month 18+)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7581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PIARs = more precedents = regulatory adoption = mandatory usage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1C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87952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C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42336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Obligation Network (Month 30+)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5079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participants = more netting efficiency = lower cost per user = more participants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Infrastructure Changes Your Multiple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1371600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847088"/>
            <a:ext cx="3200400" cy="457200"/>
          </a:xfrm>
          <a:prstGeom prst="rect">
            <a:avLst/>
          </a:prstGeom>
          <a:solidFill>
            <a:srgbClr val="2AAFA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14016"/>
            <a:ext cx="5029200" cy="457200"/>
          </a:xfrm>
          <a:prstGeom prst="rect">
            <a:avLst/>
          </a:prstGeom>
          <a:solidFill>
            <a:srgbClr val="1C8DA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140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980944"/>
            <a:ext cx="6400800" cy="457200"/>
          </a:xfrm>
          <a:prstGeom prst="rect">
            <a:avLst/>
          </a:prstGeom>
          <a:solidFill>
            <a:srgbClr val="0D6B8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8094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20-35x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Infrastructure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547872"/>
            <a:ext cx="74980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478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30-50x+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Obligation/Settlement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revenue at 3x = $30M valuation. Same $10M at 35x = $350M. The infrastructure premium is 10x.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 Wealth: 10-Year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143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$228K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1143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$684K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$909K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1783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103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103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$144M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solidFill>
            <a:srgbClr val="FFE5C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2423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423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743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2743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063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0" y="3063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$8.75B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383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0" y="3383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solidFill>
            <a:srgbClr val="FFE5CC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0" y="3703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35x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4023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645920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9184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40x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0" y="4023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multiple expansion IS the compounding. Revenue alone doesn't create trillions. Infrastructure positioning does.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Kinds of Leverage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LEVERAGE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+ AI multiply your capacity. 1 founder → 100 operators → 1000 AI agents. Revenue per founder-hour: infinite.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LEVERAGE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revenue funds infrastructure. Infrastructure creates network effects. Network effects attract capital. Capital accelerates infrastructure.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LEVERAGE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system becomes terrain — economically harder to remove than to adopt — you extract rent from the entire coordination layer. This is how trillions work.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Compounds to Trillions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1: Network effects create winner-take-most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90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Mastercard, SWIFT, TCP/IP. Once embedded, removal cost exceeds replacement cost.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8229600" cy="7772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665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2: Obligation infrastructure scales with GDP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cross-border contract, every AI decision, every irreversible action needs finality. Your TAM grows with economic activity.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8229600" cy="7772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44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3: Governance authority creates permanent toll roads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regulators require your standard, every participant pays. Not for your service — for the right to operate.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76472"/>
            <a:ext cx="8229600" cy="777240"/>
          </a:xfrm>
          <a:prstGeom prst="rect">
            <a:avLst/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4: Data gravity compounds forever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239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execution telemetry from Year 1 diagnostics is still valuable in Year 10. Data doesn't depreciate — it appreciates.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Order Is Everything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143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INSIGHT (revenue)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$5-30K diagnostics. Zero capital. 100% margin. Creates data + relationships.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0" cy="22860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57400"/>
            <a:ext cx="5486400" cy="685800"/>
          </a:xfrm>
          <a:prstGeom prst="rect">
            <a:avLst/>
          </a:prstGeom>
          <a:solidFill>
            <a:srgbClr val="0D6B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CAPACITY (operators)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048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track + cells. Revenue funds training. Creates delivery leverage.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0" cy="22860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00" cy="685800"/>
          </a:xfrm>
          <a:prstGeom prst="rect">
            <a:avLst/>
          </a:prstGeom>
          <a:solidFill>
            <a:srgbClr val="1C8DA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STANDARDS (governance)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64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Frankmax PIARs + certifications. Creates authority + IP.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3703320"/>
            <a:ext cx="0" cy="22860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77640"/>
            <a:ext cx="5486400" cy="685800"/>
          </a:xfrm>
          <a:prstGeom prst="rect">
            <a:avLst/>
          </a:prstGeom>
          <a:solidFill>
            <a:srgbClr val="2AAFA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ACCESS (platform)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251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framework + data + governance. Creates recurring + network.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4663440"/>
            <a:ext cx="0" cy="22860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937760"/>
            <a:ext cx="5486400" cy="685800"/>
          </a:xfrm>
          <a:prstGeom prst="rect">
            <a:avLst/>
          </a:prstGeom>
          <a:solidFill>
            <a:srgbClr val="31C0B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983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INFRASTRUCTURE (obligation)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285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protocol. Participation rent + netting float + crisis pricing.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64592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FUNDS the next. Each step ENABLES the next. Skip one = collapse.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Kills Compounding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Building infrastructure before proving revenue (capital starvation)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Scaling operators before proving delivery (quality collapse)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Licensing frameworks before proving effectiveness (credibility death)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Pursuing multiple verticals before dominating one (diluted compounding)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Raising capital before proving economics (dilution without leverage)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Spending time on architecture when you should be on calls (the seduction trap)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Compounds Every Single 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MORNING: One conversation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= data about buyer pain, market pricing, competitor weakness. Compounds into market intelligence.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1097280"/>
            <a:ext cx="2560320" cy="3291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AFTERNOON: One delivery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= diagnostic refined, framework iterated, case study material. Compounds into IP and credibility.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EVENING: One reflection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18288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reflection = pattern extracted, operator playbook updated, governance precedent documented. Compounds into institutional knowledge.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conversations + 365 deliveries + 365 reflections = a moat no competitor can replicate in less than 365 days.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Trillions are not made.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compounded.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$10K diagnostic contains the DNA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trillion-dollar infrastructure.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if you run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daily. Leverage weekly. Build infrastructure monthly.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already designed. Now let time do its work.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Architecture of Compounding</dc:title>
  <dc:subject>PptxGenJS Presentation</dc:subject>
  <dc:creator>FrankMax Digital</dc:creator>
  <cp:lastModifiedBy>FrankMax Digital</cp:lastModifiedBy>
  <cp:revision>1</cp:revision>
  <dcterms:created xsi:type="dcterms:W3CDTF">2026-02-27T16:52:11Z</dcterms:created>
  <dcterms:modified xsi:type="dcterms:W3CDTF">2026-02-27T16:52:11Z</dcterms:modified>
</cp:coreProperties>
</file>