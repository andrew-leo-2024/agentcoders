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The Next 30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CF6F5"/>
                </a:solidFill>
                <a:latin typeface="Calibri"/>
              </a:defRPr>
            </a:pPr>
            <a:r>
              <a:t>From $0 to First Revenue — One Action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FrankMax Digital | February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You have $1,000 and an idea.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CF6F5"/>
                </a:solidFill>
                <a:latin typeface="Calibri"/>
              </a:defRPr>
            </a:pPr>
            <a:r>
              <a:t>You do not have a product.</a:t>
            </a:r>
          </a:p>
          <a:p>
            <a:pPr algn="ctr">
              <a:defRPr sz="2000">
                <a:solidFill>
                  <a:srgbClr val="FCF6F5"/>
                </a:solidFill>
                <a:latin typeface="Calibri"/>
              </a:defRPr>
            </a:pPr>
            <a:r>
              <a:t>You do not have a customer.</a:t>
            </a:r>
          </a:p>
          <a:p>
            <a:pPr algn="ctr">
              <a:defRPr sz="2000">
                <a:solidFill>
                  <a:srgbClr val="FCF6F5"/>
                </a:solidFill>
                <a:latin typeface="Calibri"/>
              </a:defRPr>
            </a:pPr>
            <a:r>
              <a:t>You do not have a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You have 30 days to change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F3C7E"/>
                </a:solidFill>
                <a:latin typeface="Georgia"/>
              </a:defRPr>
            </a:pPr>
            <a:r>
              <a:t>One Service. One Buyer. One Price.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6400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37160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90011"/>
                </a:solidFill>
                <a:latin typeface="Georgia"/>
              </a:defRPr>
            </a:pPr>
            <a:r>
              <a:t>Revenue Chokepoint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92024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  <a:latin typeface="Calibri"/>
              </a:defRPr>
            </a:pPr>
            <a:r>
              <a:t>Find the #1 operational bottleneck costing your company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  <a:latin typeface="Calibri"/>
              </a:defRPr>
            </a:pPr>
            <a:r>
              <a:t>Deliver in 5-10 business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92608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3C7E"/>
                </a:solidFill>
                <a:latin typeface="Georgia"/>
              </a:defRPr>
            </a:pPr>
            <a:r>
              <a:t>Price: $5,000 - $15,000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747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Calibri"/>
              </a:defRPr>
            </a:pPr>
            <a:r>
              <a:t>Cost to deliver: $0 (your expertise + 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931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90011"/>
                </a:solidFill>
                <a:latin typeface="Georgia"/>
              </a:defRPr>
            </a:pPr>
            <a:r>
              <a:t>Margin: 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F3C7E"/>
                </a:solidFill>
                <a:latin typeface="Georgia"/>
              </a:defRPr>
            </a:pPr>
            <a:r>
              <a:t>Who Writes the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560320" cy="292608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90011"/>
                </a:solidFill>
                <a:latin typeface="Georgia"/>
              </a:defRPr>
            </a:pPr>
            <a:r>
              <a:t>COO / 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$5M-$100M companies, feels pain daily, has budget authority, 7-14 day sales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097280"/>
            <a:ext cx="2560320" cy="292608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280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90011"/>
                </a:solidFill>
                <a:latin typeface="Georgia"/>
              </a:defRPr>
            </a:pPr>
            <a:r>
              <a:t>CFO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874519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Revenue leakage, billing drift, 14-21 day cycle, $10-25K deals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2560320" cy="292608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280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90011"/>
                </a:solidFill>
                <a:latin typeface="Georgia"/>
              </a:defRPr>
            </a:pPr>
            <a:r>
              <a:t>CTO / CISO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74519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AI liability exposure, governance gaps, 14-30 day cycle, $8-20K deals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90011"/>
                </a:solidFill>
                <a:latin typeface="Georgia"/>
              </a:defRPr>
            </a:pPr>
            <a:r>
              <a:t>Start with COOs. They feel pain fastest and decide fastest.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F3C7E"/>
                </a:solidFill>
                <a:latin typeface="Georgia"/>
              </a:defRPr>
            </a:pPr>
            <a:r>
              <a:t>Week 1: Exist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51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90011"/>
                </a:solidFill>
                <a:latin typeface="Georgia"/>
              </a:defRPr>
            </a:pPr>
            <a:r>
              <a:t>D1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916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Register domain ($12)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1188720"/>
            <a:ext cx="1051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10512" y="13258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90011"/>
                </a:solidFill>
                <a:latin typeface="Georgia"/>
              </a:defRPr>
            </a:pPr>
            <a:r>
              <a:t>D2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16916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Build one-page site (Carrd, $0)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188720"/>
            <a:ext cx="1051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3258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90011"/>
                </a:solidFill>
                <a:latin typeface="Georgia"/>
              </a:defRPr>
            </a:pPr>
            <a:r>
              <a:t>D3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16916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LinkedIn post #1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188720"/>
            <a:ext cx="1051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3258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90011"/>
                </a:solidFill>
                <a:latin typeface="Georgia"/>
              </a:defRPr>
            </a:pPr>
            <a:r>
              <a:t>D4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16916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Identify 50 target companies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188720"/>
            <a:ext cx="1051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13258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90011"/>
                </a:solidFill>
                <a:latin typeface="Georgia"/>
              </a:defRPr>
            </a:pPr>
            <a:r>
              <a:t>D5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16916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Send 20 connection requests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188720"/>
            <a:ext cx="1051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3258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90011"/>
                </a:solidFill>
                <a:latin typeface="Georgia"/>
              </a:defRPr>
            </a:pPr>
            <a:r>
              <a:t>D6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16916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Send 20 more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1188720"/>
            <a:ext cx="1051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2" y="13258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90011"/>
                </a:solidFill>
                <a:latin typeface="Georgia"/>
              </a:defRPr>
            </a:pPr>
            <a:r>
              <a:t>D7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16916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Follow up, engage on posts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F3C7E"/>
                </a:solidFill>
                <a:latin typeface="Georgia"/>
              </a:defRPr>
            </a:pPr>
            <a:r>
              <a:t>Cost: $12 | Revenue: $0 | Conversations: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90011"/>
                </a:solidFill>
                <a:latin typeface="Georgia"/>
              </a:defRPr>
            </a:pPr>
            <a:r>
              <a:t>Goal: Be findable. Be reachable. Be credible.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F3C7E"/>
                </a:solidFill>
                <a:latin typeface="Georgia"/>
              </a:defRPr>
            </a:pPr>
            <a:r>
              <a:t>Week 2: Conversations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234440" cy="137160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LinkedIn post #2 (chokepoint example)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1188720"/>
            <a:ext cx="1234440" cy="137160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32588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459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Book first 3 discovery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1234440" cy="137160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2588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D10-11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Conduct 3 calls, document pain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188720"/>
            <a:ext cx="1234440" cy="137160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32588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6459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Write 1-page diagnostic proposal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188720"/>
            <a:ext cx="1234440" cy="137160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132588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16459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Send 3 proposals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188720"/>
            <a:ext cx="1234440" cy="137160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132588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16459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Follow up, book 3 more calls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F3C7E"/>
                </a:solidFill>
                <a:latin typeface="Georgia"/>
              </a:defRPr>
            </a:pPr>
            <a:r>
              <a:t>Cost: $0 | Revenue: $0 | Conversations: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90011"/>
                </a:solidFill>
                <a:latin typeface="Georgia"/>
              </a:defRPr>
            </a:pPr>
            <a:r>
              <a:t>Goal: Hear real pain from real buyers in their own 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F3C7E"/>
                </a:solidFill>
                <a:latin typeface="Georgia"/>
              </a:defRPr>
            </a:pPr>
            <a:r>
              <a:t>Week 3: First Money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1463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7" y="1325880"/>
            <a:ext cx="12435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D15-16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7" y="1645920"/>
            <a:ext cx="1243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Conduct calls #4-6, LinkedIn post #3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188720"/>
            <a:ext cx="1463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52928" y="1325880"/>
            <a:ext cx="12435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D17-18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645920"/>
            <a:ext cx="1243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Send 3 more proposals, follow up on all 6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1645920" cy="1554480"/>
          </a:xfrm>
          <a:prstGeom prst="rect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1463040" cy="13716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325880"/>
            <a:ext cx="12435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D19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645920"/>
            <a:ext cx="1243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CLOSE FIRST DEAL ($5,000-$15,000)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88720"/>
            <a:ext cx="1463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325880"/>
            <a:ext cx="12435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D20-21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45920"/>
            <a:ext cx="1243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Calibri"/>
              </a:defRPr>
            </a:pPr>
            <a:r>
              <a:t>Begin delivery, document everything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F3C7E"/>
                </a:solidFill>
                <a:latin typeface="Georgia"/>
              </a:defRPr>
            </a:pPr>
            <a:r>
              <a:t>Cost: $0 | Revenue: $5,000-$15,000 | Conversations: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90011"/>
                </a:solidFill>
                <a:latin typeface="Georgia"/>
              </a:defRPr>
            </a:pPr>
            <a:r>
              <a:t>Goal: Someone pays you money for solving their problem.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F3C7E"/>
                </a:solidFill>
                <a:latin typeface="Georgia"/>
              </a:defRPr>
            </a:pPr>
            <a:r>
              <a:t>Week 4: Compound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234440" cy="137160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Present findings to first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1188720"/>
            <a:ext cx="1234440" cy="137160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32588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459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Close second deal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1234440" cy="137160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2588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D24-25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Deliver + publish case study (anonymized)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188720"/>
            <a:ext cx="1234440" cy="137160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32588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D26-27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6459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10 new prospects from credibility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188720"/>
            <a:ext cx="1234440" cy="137160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132588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16459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Propose retainer to first client ($2-5K/mo)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188720"/>
            <a:ext cx="1234440" cy="137160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132588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D29-30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16459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Revenue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F3C7E"/>
                </a:solidFill>
                <a:latin typeface="Georgia"/>
              </a:defRPr>
            </a:pPr>
            <a:r>
              <a:t>Cost: $0 | Revenue: $10,000-$30,000 | Conversations: 15+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90011"/>
                </a:solidFill>
                <a:latin typeface="Georgia"/>
              </a:defRPr>
            </a:pPr>
            <a:r>
              <a:t>Goal: Prove the machine works. Then run it again.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F3C7E"/>
                </a:solidFill>
                <a:latin typeface="Georgia"/>
              </a:defRPr>
            </a:pPr>
            <a:r>
              <a:t>30-Day Financial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990011"/>
                </a:solidFill>
                <a:latin typeface="Georgia"/>
              </a:defRPr>
            </a:pPr>
            <a:r>
              <a:t>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Total capital deployed: &lt;$50</a:t>
            </a:r>
          </a:p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Tools: $0-$20/mo</a:t>
            </a:r>
          </a:p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Time: 30 days full-time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097280"/>
            <a:ext cx="73152" cy="292608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990011"/>
                </a:solidFill>
                <a:latin typeface="Georgia"/>
              </a:defRPr>
            </a:pPr>
            <a:r>
              <a:t>Return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Deals closed: 2-3</a:t>
            </a:r>
          </a:p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Revenue: $10,000-$30,000</a:t>
            </a:r>
          </a:p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Pipeline: 5-10 proposals</a:t>
            </a:r>
          </a:p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Conversations: 15+</a:t>
            </a:r>
          </a:p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Case studies: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90011"/>
                </a:solidFill>
                <a:latin typeface="Georgia"/>
              </a:defRPr>
            </a:pPr>
            <a:r>
              <a:t>ROI: 200x-600x on capital. The only investment is your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F3C7E"/>
                </a:solidFill>
                <a:latin typeface="Georgia"/>
              </a:defRPr>
            </a:pPr>
            <a:r>
              <a:t>How $5K Becomes $500K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731520" cy="4572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234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Diagnostic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173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66666"/>
                </a:solidFill>
                <a:latin typeface="Calibri"/>
              </a:defRPr>
            </a:pPr>
            <a:r>
              <a:t>$5-15K (one-time)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691640"/>
            <a:ext cx="841248" cy="4572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Fix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20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66666"/>
                </a:solidFill>
                <a:latin typeface="Calibri"/>
              </a:defRPr>
            </a:pPr>
            <a:r>
              <a:t>$15-30K (project)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194560"/>
            <a:ext cx="950976" cy="4572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240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Monthly Monitoring Retainer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2316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66666"/>
                </a:solidFill>
                <a:latin typeface="Calibri"/>
              </a:defRPr>
            </a:pPr>
            <a:r>
              <a:t>$2-5K/mo ($24-60K/yr)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2697480"/>
            <a:ext cx="1060704" cy="4572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Governance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926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66666"/>
                </a:solidFill>
                <a:latin typeface="Calibri"/>
              </a:defRPr>
            </a:pPr>
            <a:r>
              <a:t>$8-20K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200400"/>
            <a:ext cx="1170432" cy="4572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3246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Frankmax PIAR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42900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66666"/>
                </a:solidFill>
                <a:latin typeface="Calibri"/>
              </a:defRPr>
            </a:pPr>
            <a:r>
              <a:t>$25-75K (institutional)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703320"/>
            <a:ext cx="1280160" cy="4572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37490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Enterprise License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9319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66666"/>
                </a:solidFill>
                <a:latin typeface="Calibri"/>
              </a:defRPr>
            </a:pPr>
            <a:r>
              <a:t>$100-500K/yr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990011"/>
                </a:solidFill>
                <a:latin typeface="Georgia"/>
              </a:defRPr>
            </a:pPr>
            <a:r>
              <a:t>One client can become $200K+ over 18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The 10 Traps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CF6F5"/>
                </a:solidFill>
                <a:latin typeface="Calibri"/>
              </a:defRPr>
            </a:pPr>
            <a:r>
              <a:t>1. OT build a product (sell the service first)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CF6F5"/>
                </a:solidFill>
                <a:latin typeface="Calibri"/>
              </a:defRPr>
            </a:pPr>
            <a:r>
              <a:t>2. OT write more strategy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39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CF6F5"/>
                </a:solidFill>
                <a:latin typeface="Calibri"/>
              </a:defRPr>
            </a:pPr>
            <a:r>
              <a:t>3. OT design a logo or brand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CF6F5"/>
                </a:solidFill>
                <a:latin typeface="Calibri"/>
              </a:defRPr>
            </a:pPr>
            <a:r>
              <a:t>4. OT build the 74-system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CF6F5"/>
                </a:solidFill>
                <a:latin typeface="Calibri"/>
              </a:defRPr>
            </a:pPr>
            <a:r>
              <a:t>5. OT incorporate in multiple jurisdictions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09728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CF6F5"/>
                </a:solidFill>
                <a:latin typeface="Calibri"/>
              </a:defRPr>
            </a:pPr>
            <a:r>
              <a:t>6. OT attend conferences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73736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CF6F5"/>
                </a:solidFill>
                <a:latin typeface="Calibri"/>
              </a:defRPr>
            </a:pPr>
            <a:r>
              <a:t>7. OT hire anyone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377439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CF6F5"/>
                </a:solidFill>
                <a:latin typeface="Calibri"/>
              </a:defRPr>
            </a:pPr>
            <a:r>
              <a:t>8. OT raise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1752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CF6F5"/>
                </a:solidFill>
                <a:latin typeface="Calibri"/>
              </a:defRPr>
            </a:pPr>
            <a:r>
              <a:t>9. OT build an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6576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CF6F5"/>
                </a:solidFill>
                <a:latin typeface="Calibri"/>
              </a:defRPr>
            </a:pPr>
            <a:r>
              <a:t>10. OT think about the ORF protocol until $50K revenue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F3C7E"/>
                </a:solidFill>
                <a:latin typeface="Georgia"/>
              </a:defRPr>
            </a:pPr>
            <a:r>
              <a:t>The Only Script You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" cy="365760"/>
          </a:xfrm>
          <a:prstGeom prst="rect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7043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  <a:latin typeface="Calibri"/>
              </a:defRPr>
            </a:pPr>
            <a:r>
              <a:t>I help [industry] companies find their biggest revenue bottleneck.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860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  <a:latin typeface="Calibri"/>
              </a:defRPr>
            </a:pPr>
            <a:r>
              <a:t>What's the single biggest operational issue costing you money right now?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1635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QUANTIFY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089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  <a:latin typeface="Calibri"/>
              </a:defRPr>
            </a:pPr>
            <a:r>
              <a:t>If we fixed that, what would it be worth in monthly revenue?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11880"/>
            <a:ext cx="365760" cy="365760"/>
          </a:xfrm>
          <a:prstGeom prst="rect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393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OFFER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319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  <a:latin typeface="Calibri"/>
              </a:defRPr>
            </a:pPr>
            <a:r>
              <a:t>I can identify your top 3 chokepoints with dollar values in 5-10 days. $[X]. If I don't find 3x that amount, I refund you.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F3C7E"/>
                </a:solidFill>
                <a:latin typeface="Georgia"/>
              </a:defRPr>
            </a:pPr>
            <a:r>
              <a:t>If Day 30 Works, Then...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377440" cy="292608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990011"/>
                </a:solidFill>
                <a:latin typeface="Georgia"/>
              </a:defRPr>
            </a:pPr>
            <a:r>
              <a:t>Month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5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$25-50K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hire first operator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systemize delivery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97280"/>
            <a:ext cx="2377440" cy="292608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234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990011"/>
                </a:solidFill>
                <a:latin typeface="Georgia"/>
              </a:defRPr>
            </a:pPr>
            <a:r>
              <a:t>Month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10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$50-100K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34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launch Operator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3832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case study library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97280"/>
            <a:ext cx="2377440" cy="2926080"/>
          </a:xfrm>
          <a:prstGeom prst="rect">
            <a:avLst/>
          </a:prstGeom>
          <a:solidFill>
            <a:srgbClr val="FCF6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234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990011"/>
                </a:solidFill>
                <a:latin typeface="Georgia"/>
              </a:defRPr>
            </a:pPr>
            <a:r>
              <a:t>Month 4-6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20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$100-200K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34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vertical specialization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832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first retainer portfolio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90011"/>
                </a:solidFill>
                <a:latin typeface="Georgia"/>
              </a:defRPr>
            </a:pPr>
            <a:r>
              <a:t>Each month proves the next. Nothing is assumed.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The Honest Compounding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914400" cy="548640"/>
          </a:xfrm>
          <a:prstGeom prst="rect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61872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$250K-$1.2M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61872"/>
            <a:ext cx="4846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>
                <a:solidFill>
                  <a:srgbClr val="FCF6F5"/>
                </a:solidFill>
                <a:latin typeface="Calibri"/>
              </a:defRPr>
            </a:pPr>
            <a:r>
              <a:t>prove the model, build credibility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914400" cy="548640"/>
          </a:xfrm>
          <a:prstGeom prst="rect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84248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47672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$3-10M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947672"/>
            <a:ext cx="4846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>
                <a:solidFill>
                  <a:srgbClr val="FCF6F5"/>
                </a:solidFill>
                <a:latin typeface="Calibri"/>
              </a:defRPr>
            </a:pPr>
            <a:r>
              <a:t>verticalize, operator army, first institutional clients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914400" cy="548640"/>
          </a:xfrm>
          <a:prstGeom prst="rect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33472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$20-50M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33472"/>
            <a:ext cx="4846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>
                <a:solidFill>
                  <a:srgbClr val="FCF6F5"/>
                </a:solidFill>
                <a:latin typeface="Calibri"/>
              </a:defRPr>
            </a:pPr>
            <a:r>
              <a:t>ORF protocol deployment, cross-border, insurance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914400" cy="548640"/>
          </a:xfrm>
          <a:prstGeom prst="rect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55848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2029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319272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$100-500M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19272"/>
            <a:ext cx="4846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>
                <a:solidFill>
                  <a:srgbClr val="FCF6F5"/>
                </a:solidFill>
                <a:latin typeface="Calibri"/>
              </a:defRPr>
            </a:pPr>
            <a:r>
              <a:t>institutional infrastructure, government pilots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914400" cy="548640"/>
          </a:xfrm>
          <a:prstGeom prst="rect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41648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2030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005072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990011"/>
                </a:solidFill>
                <a:latin typeface="Georgia"/>
              </a:defRPr>
            </a:pPr>
            <a:r>
              <a:t>$1-5B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005072"/>
            <a:ext cx="4846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>
                <a:solidFill>
                  <a:srgbClr val="FCF6F5"/>
                </a:solidFill>
                <a:latin typeface="Calibri"/>
              </a:defRPr>
            </a:pPr>
            <a:r>
              <a:t>obligation infrastructure at scale, GDP-adjacent positioning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CF6F5"/>
                </a:solidFill>
                <a:latin typeface="Calibri"/>
              </a:defRPr>
            </a:pPr>
            <a:r>
              <a:t>Trillions require decades. Billions require years. Millions require months. The first $50K requires 30 days.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Georgia"/>
              </a:defRPr>
            </a:pPr>
            <a:r>
              <a:t>Open LinkedIn.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CF6F5"/>
                </a:solidFill>
                <a:latin typeface="Calibri"/>
              </a:defRPr>
            </a:pPr>
            <a:r>
              <a:t>Find one COO at a $10M company.</a:t>
            </a:r>
          </a:p>
          <a:p>
            <a:pPr algn="ctr">
              <a:defRPr sz="2800">
                <a:solidFill>
                  <a:srgbClr val="FCF6F5"/>
                </a:solidFill>
                <a:latin typeface="Calibri"/>
              </a:defRPr>
            </a:pPr>
            <a:r>
              <a:t>Send one message.</a:t>
            </a:r>
          </a:p>
          <a:p>
            <a:pPr algn="ctr">
              <a:defRPr sz="2800">
                <a:solidFill>
                  <a:srgbClr val="FCF6F5"/>
                </a:solidFill>
                <a:latin typeface="Calibri"/>
              </a:defRPr>
            </a:pPr>
            <a:r>
              <a:t>That is the next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CF6F5"/>
                </a:solidFill>
                <a:latin typeface="Calibri"/>
              </a:defRPr>
            </a:pPr>
            <a:r>
              <a:t>Everything else is procrastination.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